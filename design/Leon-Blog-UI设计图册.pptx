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a2f75cf3014d92" /><Relationship Type="http://schemas.openxmlformats.org/officeDocument/2006/relationships/extended-properties" Target="/docProps/app.xml" Id="Rbafdd41ed582480f" /><Relationship Type="http://schemas.openxmlformats.org/officeDocument/2006/relationships/officeDocument" Target="/ppt/presentation.xml" Id="R6c08d3c7790945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4033861e004c9c"/>
  </p:sldMasterIdLst>
  <p:notesMasterIdLst>
    <p:notesMasterId xmlns:r="http://schemas.openxmlformats.org/officeDocument/2006/relationships" r:id="R75df7723bd194b2e"/>
  </p:notesMasterIdLst>
  <p:sldIdLst>
    <p:sldId xmlns:r="http://schemas.openxmlformats.org/officeDocument/2006/relationships" id="256" r:id="Rc282776416f14f82"/>
    <p:sldId xmlns:r="http://schemas.openxmlformats.org/officeDocument/2006/relationships" id="257" r:id="Rd783ab8488d84488"/>
    <p:sldId xmlns:r="http://schemas.openxmlformats.org/officeDocument/2006/relationships" id="258" r:id="Rc93ea76040354264"/>
    <p:sldId xmlns:r="http://schemas.openxmlformats.org/officeDocument/2006/relationships" id="259" r:id="R4ae032298a79401c"/>
    <p:sldId xmlns:r="http://schemas.openxmlformats.org/officeDocument/2006/relationships" id="260" r:id="Rd5b323d54a644f9b"/>
    <p:sldId xmlns:r="http://schemas.openxmlformats.org/officeDocument/2006/relationships" id="261" r:id="R7c9c3e7e3ff64429"/>
    <p:sldId xmlns:r="http://schemas.openxmlformats.org/officeDocument/2006/relationships" id="262" r:id="R45cfe33076904e02"/>
    <p:sldId xmlns:r="http://schemas.openxmlformats.org/officeDocument/2006/relationships" id="263" r:id="R2cb4e81ff1554c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25ea4ffdef4fec" /><Relationship Type="http://schemas.openxmlformats.org/officeDocument/2006/relationships/slideMaster" Target="/ppt/slideMasters/slideMaster1.xml" Id="R2b4033861e004c9c" /><Relationship Type="http://schemas.openxmlformats.org/officeDocument/2006/relationships/notesMaster" Target="/ppt/notesMasters/notesMaster1.xml" Id="R75df7723bd194b2e" /><Relationship Type="http://schemas.openxmlformats.org/officeDocument/2006/relationships/presProps" Target="/ppt/presProps.xml" Id="Rae24b0cdef444894" /><Relationship Type="http://schemas.openxmlformats.org/officeDocument/2006/relationships/tableStyles" Target="/ppt/tableStyles.xml" Id="Ra94eee0512db4a76" /><Relationship Type="http://schemas.openxmlformats.org/officeDocument/2006/relationships/slide" Target="/ppt/slides/slide1.xml" Id="Rc282776416f14f82" /><Relationship Type="http://schemas.openxmlformats.org/officeDocument/2006/relationships/slide" Target="/ppt/slides/slide2.xml" Id="Rd783ab8488d84488" /><Relationship Type="http://schemas.openxmlformats.org/officeDocument/2006/relationships/slide" Target="/ppt/slides/slide3.xml" Id="Rc93ea76040354264" /><Relationship Type="http://schemas.openxmlformats.org/officeDocument/2006/relationships/slide" Target="/ppt/slides/slide4.xml" Id="R4ae032298a79401c" /><Relationship Type="http://schemas.openxmlformats.org/officeDocument/2006/relationships/slide" Target="/ppt/slides/slide5.xml" Id="Rd5b323d54a644f9b" /><Relationship Type="http://schemas.openxmlformats.org/officeDocument/2006/relationships/slide" Target="/ppt/slides/slide6.xml" Id="R7c9c3e7e3ff64429" /><Relationship Type="http://schemas.openxmlformats.org/officeDocument/2006/relationships/slide" Target="/ppt/slides/slide7.xml" Id="R45cfe33076904e02" /><Relationship Type="http://schemas.openxmlformats.org/officeDocument/2006/relationships/slide" Target="/ppt/slides/slide8.xml" Id="R2cb4e81ff1554c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2092b902024c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c5a47ec9f04c99" /><Relationship Type="http://schemas.openxmlformats.org/officeDocument/2006/relationships/notesMaster" Target="/ppt/notesMasters/notesMaster1.xml" Id="R051f05cd1f454b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775698b72b4ac0" /><Relationship Type="http://schemas.openxmlformats.org/officeDocument/2006/relationships/notesMaster" Target="/ppt/notesMasters/notesMaster1.xml" Id="R8ab8e1cd960e42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12b538d6004b51" /><Relationship Type="http://schemas.openxmlformats.org/officeDocument/2006/relationships/notesMaster" Target="/ppt/notesMasters/notesMaster1.xml" Id="R642e5355e94040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f56bd400414caf" /><Relationship Type="http://schemas.openxmlformats.org/officeDocument/2006/relationships/notesMaster" Target="/ppt/notesMasters/notesMaster1.xml" Id="R22664ca109114a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f6c102820c4002" /><Relationship Type="http://schemas.openxmlformats.org/officeDocument/2006/relationships/notesMaster" Target="/ppt/notesMasters/notesMaster1.xml" Id="R1134b74b612942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2eab02ae3b4aef" /><Relationship Type="http://schemas.openxmlformats.org/officeDocument/2006/relationships/notesMaster" Target="/ppt/notesMasters/notesMaster1.xml" Id="R85b1b09593234c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1f8159fa084bd4" /><Relationship Type="http://schemas.openxmlformats.org/officeDocument/2006/relationships/notesMaster" Target="/ppt/notesMasters/notesMaster1.xml" Id="R39c5867a0d8b42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480e65cbb646f2" /><Relationship Type="http://schemas.openxmlformats.org/officeDocument/2006/relationships/notesMaster" Target="/ppt/notesMasters/notesMaster1.xml" Id="Rfad2597206b24c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产品范围：/Users/leon/Desktop/leon-blog/01-产品需求文档-PRD.md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产品范围与非目标：/Users/leon/Desktop/leon-blog/01-产品需求文档-PRD.md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 端与 B 端功能清单：/Users/leon/Desktop/leon-blog/01-产品需求文档-PRD.md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访客与作者使用场景：/Users/leon/Desktop/leon-blog/01-产品需求文档-PRD.md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方向 1：/Users/leon/.codex/generated_images/019fa6c7-77d6-74e3-97d7-54323195fa4a/call_5eD9aA7dzuYQ2TNlihF36Uvv.png（OpenAI ImageGen 生成）</a:t>
            </a:r>
          </a:p>
          <a:p xmlns:a="http://schemas.openxmlformats.org/drawingml/2006/main">
            <a:r>
              <a:t>- 方向 2：/Users/leon/.codex/generated_images/019fa6c7-77d6-74e3-97d7-54323195fa4a/call_3C2TYEujZypILkJxkCkaNO0a.png（OpenAI ImageGen 生成）</a:t>
            </a:r>
          </a:p>
          <a:p xmlns:a="http://schemas.openxmlformats.org/drawingml/2006/main">
            <a:r>
              <a:t>- 方向 3：/Users/leon/.codex/generated_images/019fa6c7-77d6-74e3-97d7-54323195fa4a/call_z3PkffNafUDpChXbJLZtu2fg.png（OpenAI ImageGen 生成）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视觉方向依据：用户已选择方向 1「温暖编辑型开发者日志」</a:t>
            </a:r>
          </a:p>
          <a:p xmlns:a="http://schemas.openxmlformats.org/drawingml/2006/main">
            <a:r>
              <a:t>- 无外部数据来源；颜色、字体与间距为本项目设计建议。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组件范围依据：/Users/leon/Desktop/leon-blog/01-产品需求文档-PRD.md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首页视觉稿：/Users/leon/.codex/generated_images/019fa6c7-77d6-74e3-97d7-54323195fa4a/call_5eD9aA7dzuYQ2TNlihF36Uvv.png（OpenAI ImageGen 生成）</a:t>
            </a:r>
          </a:p>
          <a:p xmlns:a="http://schemas.openxmlformats.org/drawingml/2006/main">
            <a:r>
              <a:t>- 首页功能范围：/Users/leon/Desktop/leon-blog/01-产品需求文档-PRD.md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a7f791a01249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e98acbf0104f03" /><Relationship Type="http://schemas.openxmlformats.org/officeDocument/2006/relationships/slideLayout" Target="/ppt/slideLayouts/slideLayout1.xml" Id="R51fb5a26ed164b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fb5a26ed164b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5ae3c1f7a49c5" /><Relationship Type="http://schemas.openxmlformats.org/officeDocument/2006/relationships/notesSlide" Target="/ppt/notesSlides/notesSlide1.xml" Id="R702c2c2a474748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86f326a83427c" /><Relationship Type="http://schemas.openxmlformats.org/officeDocument/2006/relationships/notesSlide" Target="/ppt/notesSlides/notesSlide2.xml" Id="R94b699bfea544a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6c4c5ca3c4c04" /><Relationship Type="http://schemas.openxmlformats.org/officeDocument/2006/relationships/notesSlide" Target="/ppt/notesSlides/notesSlide3.xml" Id="Rb7de27fce72d43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67de72e674db0" /><Relationship Type="http://schemas.openxmlformats.org/officeDocument/2006/relationships/notesSlide" Target="/ppt/notesSlides/notesSlide4.xml" Id="R1dfb9bd6194644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e36fbac6949d8" /><Relationship Type="http://schemas.openxmlformats.org/officeDocument/2006/relationships/image" Target="/ppt/media/image.png" Id="R49cc09fc3a22409d" /><Relationship Type="http://schemas.openxmlformats.org/officeDocument/2006/relationships/image" Target="/ppt/media/image2.png" Id="R3820e0d253564c03" /><Relationship Type="http://schemas.openxmlformats.org/officeDocument/2006/relationships/image" Target="/ppt/media/image3.png" Id="R64e06dea394e4a0a" /><Relationship Type="http://schemas.openxmlformats.org/officeDocument/2006/relationships/notesSlide" Target="/ppt/notesSlides/notesSlide5.xml" Id="R1615a8a70df440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8360fd41c4d08" /><Relationship Type="http://schemas.openxmlformats.org/officeDocument/2006/relationships/notesSlide" Target="/ppt/notesSlides/notesSlide6.xml" Id="R2ba9927c2dba4f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7defbb0b64c9a" /><Relationship Type="http://schemas.openxmlformats.org/officeDocument/2006/relationships/notesSlide" Target="/ppt/notesSlides/notesSlide7.xml" Id="R35b88ecf005e48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730405d124812" /><Relationship Type="http://schemas.openxmlformats.org/officeDocument/2006/relationships/image" Target="/ppt/media/image4.png" Id="Rfb0322a6fec44687" /><Relationship Type="http://schemas.openxmlformats.org/officeDocument/2006/relationships/notesSlide" Target="/ppt/notesSlides/notesSlide8.xml" Id="R9f72449aaf5344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490E7-D518-44F9-AB8A-0189A2C2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34A32"/>
                </a:solidFill>
              </a:defRPr>
            </a:pPr>
            <a:r>
              <a:rPr sz="1050" b="1">
                <a:solidFill>
                  <a:srgbClr val="C34A32"/>
                </a:solidFill>
              </a:rPr>
              <a:t>LEON BLOG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984FA-2C60-4F85-9A74-AC357354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717"/>
                </a:solidFill>
              </a:defRPr>
            </a:pPr>
            <a:r>
              <a:rPr sz="4350" b="1">
                <a:solidFill>
                  <a:srgbClr val="171717"/>
                </a:solidFill>
              </a:rPr>
              <a:t>把复杂系统，</a:t>
            </a:r>
          </a:p>
          <a:p xmlns:a="http://schemas.openxmlformats.org/drawingml/2006/main">
            <a:pPr algn="l">
              <a:defRPr sz="4350" b="1">
                <a:solidFill>
                  <a:srgbClr val="171717"/>
                </a:solidFill>
              </a:defRPr>
            </a:pPr>
            <a:r>
              <a:rPr sz="4350" b="1">
                <a:solidFill>
                  <a:srgbClr val="171717"/>
                </a:solidFill>
              </a:rPr>
              <a:t>写成可验证的工程实践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EC751-53C1-4DDB-9353-16887620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A61"/>
                </a:solidFill>
              </a:defRPr>
            </a:pPr>
            <a:r>
              <a:rPr sz="1650" b="0">
                <a:solidFill>
                  <a:srgbClr val="6F6A61"/>
                </a:solidFill>
              </a:rPr>
              <a:t>个人技术博客与求职作品集 · UI 设计基础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24BF4-B831-4A78-A2BD-A7BF667A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4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4915C-D202-4FA1-B8D4-03FD68CE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信息架构  /  关键流程  /  视觉方向  /  设计系统  /  首页样稿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0AF18-5B0A-4C26-B8C1-51FB1FEF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4A32"/>
                </a:solidFill>
              </a:defRPr>
            </a:pPr>
            <a:r>
              <a:rPr sz="1200" b="1">
                <a:solidFill>
                  <a:srgbClr val="C34A32"/>
                </a:solidFill>
              </a:rPr>
              <a:t>方向 1 · 温暖编辑型开发者日志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F3AF1-27C5-4961-A503-DBE3F774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8578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6A61"/>
                </a:solidFill>
              </a:defRPr>
            </a:pPr>
            <a:r>
              <a:rPr sz="975" b="0">
                <a:solidFill>
                  <a:srgbClr val="6F6A61"/>
                </a:solidFill>
              </a:rPr>
              <a:t>v0.1  ·  2026-07-28</a:t>
            </a:r>
          </a:p>
        </p:txBody>
      </p:sp>
    </p:spTree>
    <p:extLst>
      <p:ext uri="{BB962C8B-B14F-4D97-AF65-F5344CB8AC3E}">
        <p14:creationId xmlns:p14="http://schemas.microsoft.com/office/powerpoint/2010/main" val="1984331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4DC15C-8A1A-485C-B071-AA60F0A9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34A32"/>
                </a:solidFill>
              </a:defRPr>
            </a:pPr>
            <a:r>
              <a:rPr sz="975" b="1">
                <a:solidFill>
                  <a:srgbClr val="C34A32"/>
                </a:solidFill>
              </a:rPr>
              <a:t>01 · 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EA777-9773-42D3-8827-319D6E1D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</a:rPr>
              <a:t>更像个人开发者杂志，而不是一个 SaaS 后台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58B80-A566-4D65-BB77-05849CA9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1"/>
                </a:solidFill>
              </a:defRPr>
            </a:pPr>
            <a:r>
              <a:rPr sz="900" b="0">
                <a:solidFill>
                  <a:srgbClr val="6F6A61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1E780-5873-46F0-B33A-3202E6AE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7C398-B8D0-4652-9DE8-1F02237A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核心体验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CED4F-7538-422C-A626-0728C5B9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访客先理解作者关注的问题，再进入文章；</a:t>
            </a:r>
          </a:p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管理端只服务单一作者的创作与发布闭环。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6B344-5459-486D-92F4-16CF4EC1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317AE-2F6C-4A53-AFCC-6942D2CF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34A32"/>
                </a:solidFill>
              </a:defRPr>
            </a:pPr>
            <a:r>
              <a:rPr sz="1275" b="1">
                <a:solidFill>
                  <a:srgbClr val="C34A32"/>
                </a:solidFill>
              </a:rPr>
              <a:t>体验原则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0395E-DFBD-4F68-A0CD-06E27FA7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143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01  阅读优先：正文宽度、代码块和移动端体验优先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02  内容发现：文章、分类、标签、搜索形成闭环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03  能力证明：首页用真实文章与作品证据说话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04  适度设计：不用多用户、审核流或复杂数据看板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FE59D-041E-4728-970D-0C4C36CF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52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产品边界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3588E-44FB-49AD-913E-9EB319C6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669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34A32"/>
                </a:solidFill>
              </a:defRPr>
            </a:pPr>
            <a:r>
              <a:rPr sz="975" b="1">
                <a:solidFill>
                  <a:srgbClr val="C34A32"/>
                </a:solidFill>
              </a:rPr>
              <a:t>P0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6CE95-17CB-4012-A17A-1518043A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288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文章阅读与发现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34A4C-FC28-4912-BEAC-FB2104CF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首页、列表、详情、分类、标签、搜索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948FA-96C2-4831-A0F7-54C2AEEA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26349-8DCA-4480-8360-39A8D9A7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051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34A32"/>
                </a:solidFill>
              </a:defRPr>
            </a:pPr>
            <a:r>
              <a:rPr sz="975" b="1">
                <a:solidFill>
                  <a:srgbClr val="C34A32"/>
                </a:solidFill>
              </a:rPr>
              <a:t>P0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FF4B4-4CE4-46EC-B737-E73317E5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单管理员发布闭环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10EF5-631F-46E2-A8A1-8015560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909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登录、草稿、预览、发布、更新、归档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67A9B-1472-4FC7-AE86-33CD6757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909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9D8DE-2C16-4FCF-A56A-93AD1207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433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34A32"/>
                </a:solidFill>
              </a:defRPr>
            </a:pPr>
            <a:r>
              <a:rPr sz="975" b="1">
                <a:solidFill>
                  <a:srgbClr val="C34A32"/>
                </a:solidFill>
              </a:rPr>
              <a:t>P1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1B8D0B-33EF-48A8-8882-029E2C8F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增强阅读体验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196A05-06A1-48D6-A0A8-DA130FCD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291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目录、相关文章、深色主题、图片上传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FF3D35-C35E-4526-B031-443E0001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291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40BA2B-F917-402F-B882-E132A188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815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A61"/>
                </a:solidFill>
              </a:defRPr>
            </a:pPr>
            <a:r>
              <a:rPr sz="975" b="1">
                <a:solidFill>
                  <a:srgbClr val="6F6A61"/>
                </a:solidFill>
              </a:rPr>
              <a:t>不做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E2F734-81AF-489D-9D5D-ACA04050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43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社区与企业能力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B253D1-BA7C-4398-B857-2DB478E5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673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评论、点赞、RBAC、审核流、通用 CMS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EA9653-D32E-42C1-B709-12762EA8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673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154332-13B0-478B-9AC3-3B1295AA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A61"/>
                </a:solidFill>
              </a:defRPr>
            </a:pPr>
            <a:r>
              <a:rPr sz="825" b="0">
                <a:solidFill>
                  <a:srgbClr val="6F6A61"/>
                </a:solidFill>
              </a:rPr>
              <a:t>Leon Blog · UI Foundation · v0.1</a:t>
            </a:r>
          </a:p>
        </p:txBody>
      </p:sp>
    </p:spTree>
    <p:extLst>
      <p:ext uri="{BB962C8B-B14F-4D97-AF65-F5344CB8AC3E}">
        <p14:creationId xmlns:p14="http://schemas.microsoft.com/office/powerpoint/2010/main" val="1191283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CBE7ED-ABD4-41E7-9A94-6C692300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34A32"/>
                </a:solidFill>
              </a:defRPr>
            </a:pPr>
            <a:r>
              <a:rPr sz="975" b="1">
                <a:solidFill>
                  <a:srgbClr val="C34A32"/>
                </a:solidFill>
              </a:rPr>
              <a:t>02 · INFORMATION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68DB1-BBC2-4AFF-9318-22230F0D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</a:rPr>
              <a:t>两套入口共享内容，但访客端与管理端保持清晰分离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18F3A-85C6-4D22-B037-7AD64F75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1"/>
                </a:solidFill>
              </a:defRPr>
            </a:pPr>
            <a:r>
              <a:rPr sz="900" b="0">
                <a:solidFill>
                  <a:srgbClr val="6F6A61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6FD73-3874-4139-9099-D8C708A9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D7F8E-5C3A-49A4-96E3-31335225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访客端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1BC6E-D0F8-45B3-9D67-4151AC95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90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文章发现与阅读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00D7B-734E-4D5D-8DDA-E9AAA253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34A32"/>
                </a:solidFill>
              </a:defRPr>
            </a:pPr>
            <a:r>
              <a:rPr sz="1425" b="1">
                <a:solidFill>
                  <a:srgbClr val="C34A32"/>
                </a:solidFill>
              </a:rPr>
              <a:t>首页 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A4905-E840-4DF2-A875-25896AEA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479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作者定位 · 最新文章 · 主要分类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F573F-DA6A-42E2-A56C-E13A13F4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5E5AB-26DA-49B8-A68E-146E14AD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文章 /posts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55206-4CB7-426F-BED1-0445020A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670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列表 · 分页 · 详情 /posts/[slug]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5ECAE-7F96-4974-B032-EBB36729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AB0A1-C591-4266-A2B8-F6E9D1DC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主题入口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557CA-7612-45A4-96F7-05C13B5A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86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分类 /categories/[slug] · 标签 /tags/[slug]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8D276-BD2E-4668-87BC-EC582F3C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CED38-6435-4188-B005-5D53722D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搜索与状态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5E480-76E8-4FDB-8CB8-96CE6660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053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搜索 /search · 空结果 · 404 · 系统错误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206EF2-18F3-48D3-A5E8-A0B68986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DCA9B-73E0-4FDB-BC6A-15A29883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管理端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378749-9077-466A-9823-C5D5A800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90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单一作者的轻量工作区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D691F-B00E-444D-B666-3BE8B3A6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34A32"/>
                </a:solidFill>
              </a:defRPr>
            </a:pPr>
            <a:r>
              <a:rPr sz="1425" b="1">
                <a:solidFill>
                  <a:srgbClr val="C34A32"/>
                </a:solidFill>
              </a:rPr>
              <a:t>登录 /admin/login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E83737-6C21-47CD-89C9-C68A19B3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邮箱与密码 · 会话退出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2CC1EE-4CD3-4429-80CC-C6EBAD26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180795-D969-4F2B-8232-2C9952C3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文章 /admin/posts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DB1035-A250-4566-8CD8-386B6C4E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670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全部状态 · 新建 · 编辑 · 删除草稿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0950BD-7B78-402F-8DE7-A14A7ABA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B371E1-C3B2-4855-9312-CAE9A3E9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862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编辑与预览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F2BF9-0F22-4DBD-AD28-FFD2CA8F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862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Markdown · 分类标签 · slug · SEO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1BE0B9-56DD-49CC-B37A-1B5F4CAA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CF28B2-FE74-4949-B65D-D2D294AC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分类与标签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358948-A69B-4ED7-82E4-2EED8A29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053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新增 · 编辑 · 排序 · 删除影响提示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5B6904-258C-4F3D-B7F9-7E759D41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9F1146-357E-4BB5-830C-0ADAE249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4A32"/>
                </a:solidFill>
              </a:defRPr>
            </a:pPr>
            <a:r>
              <a:rPr sz="1200" b="1">
                <a:solidFill>
                  <a:srgbClr val="C34A32"/>
                </a:solidFill>
              </a:rPr>
              <a:t>作品能力只在首页形成证据区，不新增独立项目产品线。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6D3EE3-5806-4394-9373-70C44096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A61"/>
                </a:solidFill>
              </a:defRPr>
            </a:pPr>
            <a:r>
              <a:rPr sz="825" b="0">
                <a:solidFill>
                  <a:srgbClr val="6F6A61"/>
                </a:solidFill>
              </a:rPr>
              <a:t>Leon Blog · UI Foundation · v0.1</a:t>
            </a:r>
          </a:p>
        </p:txBody>
      </p:sp>
    </p:spTree>
    <p:extLst>
      <p:ext uri="{BB962C8B-B14F-4D97-AF65-F5344CB8AC3E}">
        <p14:creationId xmlns:p14="http://schemas.microsoft.com/office/powerpoint/2010/main" val="11104584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EDAC85-562B-470A-A17E-21B1B4E0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34A32"/>
                </a:solidFill>
              </a:defRPr>
            </a:pPr>
            <a:r>
              <a:rPr sz="975" b="1">
                <a:solidFill>
                  <a:srgbClr val="C34A32"/>
                </a:solidFill>
              </a:rPr>
              <a:t>03 · KEY JOURNEYS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6E347-815C-4AE2-A7AD-DEDCD2D0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</a:rPr>
              <a:t>访客发现并持续阅读，作者完成发布闭环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023AF-1FFE-4871-8B92-0230E38B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1"/>
                </a:solidFill>
              </a:defRPr>
            </a:pPr>
            <a:r>
              <a:rPr sz="900" b="0">
                <a:solidFill>
                  <a:srgbClr val="6F6A61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2C419-5866-4833-A8CD-429427F0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A6DBC-C341-49EC-9CBD-E14A62C7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访客发现路径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5C6E5-8034-4650-B340-6D9ECA71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7D8AB-0FCD-4C90-AA07-08EFCE6C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首页 / 搜索入口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1FA63-C028-4963-A430-C1D239B6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5265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73F4D-BD0B-4748-A52A-BE067AB9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4790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文章列表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218CF-6533-4E4C-AD28-AB329AE5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5265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DBEDB-ED76-4EF1-87F2-47AC5FBA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4790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文章详情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485C7-52C2-4F95-AD12-15E8A14E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DD44C-1ED3-430A-943A-1B4F9B9C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分类或标签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7DC6F-CBE2-4655-B3D5-99AE74E3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5265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5048C-F939-401D-8271-40678275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4790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继续阅读</a:t>
            </a:r>
          </a:p>
        </p:txBody>
      </p:sp>
      <p:cxnSp>
        <p:nvCxnSpPr>
          <p:cNvPr id="57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52700" y="24955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34A32"/>
            </a:solidFill>
            <a:prstDash val="solid"/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762500" y="24955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34A32"/>
            </a:solidFill>
            <a:prstDash val="solid"/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972300" y="24955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34A32"/>
            </a:solidFill>
            <a:prstDash val="solid"/>
            <a:tailEnd type="arrow" w="sm" len="sm"/>
          </a:ln>
        </p:spPr>
      </p:cxnSp>
      <p:cxnSp>
        <p:nvCxnSpPr>
          <p:cNvPr id="60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182100" y="24955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34A32"/>
            </a:solidFill>
            <a:prstDash val="solid"/>
            <a:tail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F780E-1B59-4A67-A954-36A41037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作者发布路径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67387-6D94-479D-9D28-2F50E4FA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B0620F-5452-4440-9BD3-27EF45EB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登录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D6344-83FB-43EE-AEC3-B9BD06F2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1000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C58FE5-FCEE-458F-BEC8-15109FCC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0525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新建草稿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20C2FF-3BCA-4D5E-8502-AAE19F5C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1000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1CEC28-4AA5-49C0-85B4-E1B93E7E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0525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编辑与保存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6AA4D9-2895-476E-BE71-23E9EF51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1000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DAC6DF-B0A2-4529-B4E7-54A122FB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0525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预览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3C1799-F5DE-4D2B-85BD-D8BB91B2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1000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7837D3-ABAA-4B01-9EB0-0039F563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0525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发布并公开</a:t>
            </a:r>
          </a:p>
        </p:txBody>
      </p:sp>
      <p:cxnSp>
        <p:nvCxnSpPr>
          <p:cNvPr id="72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552700" y="41529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34A32"/>
            </a:solidFill>
            <a:prstDash val="solid"/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762500" y="41529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34A32"/>
            </a:solidFill>
            <a:prstDash val="solid"/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972300" y="41529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34A32"/>
            </a:solidFill>
            <a:prstDash val="soli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182100" y="41529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34A32"/>
            </a:solidFill>
            <a:prstDash val="solid"/>
            <a:tailEnd type="arrow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989F73-CBB2-4A3C-B226-E6A7C8B0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34A32"/>
                </a:solidFill>
              </a:defRPr>
            </a:pPr>
            <a:r>
              <a:rPr sz="1125" b="1">
                <a:solidFill>
                  <a:srgbClr val="C34A32"/>
                </a:solidFill>
              </a:rPr>
              <a:t>更新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A64F0E-C5A1-4066-A9F5-7AFFCB98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673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已发布文章 → 编辑 → 保存 → 公开内容刷新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0EAFD3-3FD1-4F66-9DB7-F79DFB96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673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34A32"/>
                </a:solidFill>
              </a:defRPr>
            </a:pPr>
            <a:r>
              <a:rPr sz="1125" b="1">
                <a:solidFill>
                  <a:srgbClr val="C34A32"/>
                </a:solidFill>
              </a:rPr>
              <a:t>归档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DE3E4D-BA0D-4E15-BB31-4973E39A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67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文章下线 → 列表与搜索移除 → 原地址 404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29F788-D1E6-4CC5-A3E7-DB4FF1D7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995FD0-AEB3-4E66-BAA1-C95191FF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61"/>
                </a:solidFill>
              </a:defRPr>
            </a:pPr>
            <a:r>
              <a:rPr sz="1200" b="0">
                <a:solidFill>
                  <a:srgbClr val="6F6A61"/>
                </a:solidFill>
              </a:rPr>
              <a:t>所有关键操作都需要明确的加载、成功、错误和空状态；草稿与归档内容不得出现在访客路径中。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41A898-D79F-4916-AEB0-56866A06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A61"/>
                </a:solidFill>
              </a:defRPr>
            </a:pPr>
            <a:r>
              <a:rPr sz="825" b="0">
                <a:solidFill>
                  <a:srgbClr val="6F6A61"/>
                </a:solidFill>
              </a:rPr>
              <a:t>Leon Blog · UI Foundation · v0.1</a:t>
            </a:r>
          </a:p>
        </p:txBody>
      </p:sp>
    </p:spTree>
    <p:extLst>
      <p:ext uri="{BB962C8B-B14F-4D97-AF65-F5344CB8AC3E}">
        <p14:creationId xmlns:p14="http://schemas.microsoft.com/office/powerpoint/2010/main" val="768269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10736-E53A-4FD7-91A0-5FB0DDAE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34A32"/>
                </a:solidFill>
              </a:defRPr>
            </a:pPr>
            <a:r>
              <a:rPr sz="975" b="1">
                <a:solidFill>
                  <a:srgbClr val="C34A32"/>
                </a:solidFill>
              </a:rPr>
              <a:t>04 · VISUAL DIRECTIONS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208D9-EE98-4CE7-BB8C-5EE5F256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</a:rPr>
              <a:t>三个方向都服务开发者表达，但只有一个适合长期阅读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2C1DE-3FF8-4047-BA08-407AAE9B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1"/>
                </a:solidFill>
              </a:defRPr>
            </a:pPr>
            <a:r>
              <a:rPr sz="900" b="0">
                <a:solidFill>
                  <a:srgbClr val="6F6A61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19D67-E0E5-4CC1-8573-95DFBD23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c09fc3a22409d"/>
          <a:srcRect xmlns:a="http://schemas.openxmlformats.org/drawingml/2006/main" l="0" t="3014" r="0" b="30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52600"/>
            <a:ext cx="3276600" cy="2190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18D73-804B-49AF-B600-ABB9066D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24025"/>
            <a:ext cx="33337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34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94696-8344-4D7E-935E-BC260D2D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34A32"/>
                </a:solidFill>
              </a:defRPr>
            </a:pPr>
            <a:r>
              <a:rPr sz="1650" b="1">
                <a:solidFill>
                  <a:srgbClr val="C34A32"/>
                </a:solidFill>
              </a:rPr>
              <a:t>01  温暖编辑型日志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0CA61-36CD-4ACA-8055-B01F3EBA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27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纸张感、衬线标题、朱红强调。</a:t>
            </a:r>
          </a:p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阅读与长期主义最强。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5A391-8F60-4FC0-98D8-821185BD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4775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34A32"/>
          </a:solidFill>
          <a:ln xmlns:a="http://schemas.openxmlformats.org/drawingml/2006/main" w="9525">
            <a:solidFill>
              <a:srgbClr val="C34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55341-4704-4270-B4AB-8395B926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9592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已选择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0e0d253564c03"/>
          <a:srcRect xmlns:a="http://schemas.openxmlformats.org/drawingml/2006/main" l="0" t="3014" r="0" b="30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1752600"/>
            <a:ext cx="3276600" cy="2190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6CC7B-F34E-453E-861A-A1250357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719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02  现代系统作品集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CE7CD-E218-4A73-872D-12414246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29150"/>
            <a:ext cx="327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亮白、电蓝、大字号无衬线。</a:t>
            </a:r>
          </a:p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求职表达直接，但更像产品官网。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06dea394e4a0a"/>
          <a:srcRect xmlns:a="http://schemas.openxmlformats.org/drawingml/2006/main" l="0" t="3014" r="0" b="30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1752600"/>
            <a:ext cx="3276600" cy="2190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5CAFF-4CD4-4519-82C2-B301A9C0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03  终端夜间工作台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B6736-0AAE-4704-846B-01BA6AB0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29150"/>
            <a:ext cx="327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深色、等宽、青绿高亮。</a:t>
            </a:r>
          </a:p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技术个性强，长文阅读压力更高。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206F3-C348-4BCC-B9F5-B1EB0B3B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A61"/>
                </a:solidFill>
              </a:defRPr>
            </a:pPr>
            <a:r>
              <a:rPr sz="825" b="0">
                <a:solidFill>
                  <a:srgbClr val="6F6A61"/>
                </a:solidFill>
              </a:rPr>
              <a:t>Leon Blog · UI Foundation · v0.1</a:t>
            </a:r>
          </a:p>
        </p:txBody>
      </p:sp>
    </p:spTree>
    <p:extLst>
      <p:ext uri="{BB962C8B-B14F-4D97-AF65-F5344CB8AC3E}">
        <p14:creationId xmlns:p14="http://schemas.microsoft.com/office/powerpoint/2010/main" val="16345152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8B20D0-6994-4391-B174-35304D72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34A32"/>
                </a:solidFill>
              </a:defRPr>
            </a:pPr>
            <a:r>
              <a:rPr sz="975" b="1">
                <a:solidFill>
                  <a:srgbClr val="C34A32"/>
                </a:solidFill>
              </a:rPr>
              <a:t>05 ·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B007F-9F24-4ABA-A777-01CFDE10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</a:rPr>
              <a:t>米白、墨黑与朱红建立安静而有识别度的技术阅读体验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A6B93-444B-41BA-BC66-465EE394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1"/>
                </a:solidFill>
              </a:defRPr>
            </a:pPr>
            <a:r>
              <a:rPr sz="900" b="0">
                <a:solidFill>
                  <a:srgbClr val="6F6A61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57119-F214-4B95-9D4F-D246061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41FC1-4E07-420F-8B94-B7FC433F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颜色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2FEBB-73AD-4CC9-A747-3D827717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4097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BF680-AF47-4C72-A87C-EEC3F4C4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Paper 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0E59F-24C3-4327-869E-C7A1C9F2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A61"/>
                </a:solidFill>
              </a:defRPr>
            </a:pPr>
            <a:r>
              <a:rPr sz="825" b="0">
                <a:solidFill>
                  <a:srgbClr val="6F6A61"/>
                </a:solidFill>
              </a:rPr>
              <a:t>#F7F4EE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B3810-2108-49C6-996C-EEDD7238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14097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AFB2A-4D27-4F85-802F-A4CA94A1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Surface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3BD4A-1E9F-4DE5-B2C2-07EBD21F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A61"/>
                </a:solidFill>
              </a:defRPr>
            </a:pPr>
            <a:r>
              <a:rPr sz="825" b="0">
                <a:solidFill>
                  <a:srgbClr val="6F6A61"/>
                </a:solidFill>
              </a:rPr>
              <a:t>#FFFDFC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1F1B8-DDE1-4813-B5F1-1295733E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52650"/>
            <a:ext cx="14097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520F0-5FC6-4476-AA3E-D659924A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432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Ink 900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CB158-7F61-42BB-BA17-21C0C786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146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A61"/>
                </a:solidFill>
              </a:defRPr>
            </a:pPr>
            <a:r>
              <a:rPr sz="825" b="0">
                <a:solidFill>
                  <a:srgbClr val="6F6A61"/>
                </a:solidFill>
              </a:rPr>
              <a:t>#171717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6F542-4FBC-452C-8A54-1000C132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4097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6F6A61"/>
          </a:solidFill>
          <a:ln xmlns:a="http://schemas.openxmlformats.org/drawingml/2006/main" w="9525">
            <a:solidFill>
              <a:srgbClr val="6F6A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506D1-F4B7-40AF-A302-0CA04CA2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Stone 700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01133-5A94-4FFA-842B-5FDBAC0E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A61"/>
                </a:solidFill>
              </a:defRPr>
            </a:pPr>
            <a:r>
              <a:rPr sz="825" b="0">
                <a:solidFill>
                  <a:srgbClr val="6F6A61"/>
                </a:solidFill>
              </a:rPr>
              <a:t>#6F6A61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8F285-8DFF-461C-9214-6290C144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62300"/>
            <a:ext cx="14097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7D1C7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C89C64-BA9C-463D-944C-3E534D86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528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Stone 300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930AD-B6E7-442E-88BF-9E931CA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243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A61"/>
                </a:solidFill>
              </a:defRPr>
            </a:pPr>
            <a:r>
              <a:rPr sz="825" b="0">
                <a:solidFill>
                  <a:srgbClr val="6F6A61"/>
                </a:solidFill>
              </a:rPr>
              <a:t>#D7D1C7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25247-5AE1-41E8-9105-4F6B143B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62300"/>
            <a:ext cx="14097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C34A32"/>
          </a:solidFill>
          <a:ln xmlns:a="http://schemas.openxmlformats.org/drawingml/2006/main" w="9525">
            <a:solidFill>
              <a:srgbClr val="C34A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613B0-20EA-410B-9870-E3B537DE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528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Vermilion 600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68B07-A64B-4210-A389-81AFF24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243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A61"/>
                </a:solidFill>
              </a:defRPr>
            </a:pPr>
            <a:r>
              <a:rPr sz="825" b="0">
                <a:solidFill>
                  <a:srgbClr val="6F6A61"/>
                </a:solidFill>
              </a:rPr>
              <a:t>#C34A32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7C6B1B-E020-4EA2-A5E7-BA42FB69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字体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120E68-6BAB-4147-B12F-3391871B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把复杂系统写清楚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71C32F-EE55-4241-B695-EA340499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1"/>
                </a:solidFill>
              </a:defRPr>
            </a:pPr>
            <a:r>
              <a:rPr sz="975" b="0">
                <a:solidFill>
                  <a:srgbClr val="6F6A61"/>
                </a:solidFill>
              </a:rPr>
              <a:t>Songti SC · Hero / H1 / H2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8E1B9E-88C2-48BE-9A64-C784EE98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关注现代 Web 技术栈与系统设计，在真实业务约束下沉淀可复用的方法与代码。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AFCE9F-11C6-4EAC-9809-3D5CBB46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1"/>
                </a:solidFill>
              </a:defRPr>
            </a:pPr>
            <a:r>
              <a:rPr sz="975" b="0">
                <a:solidFill>
                  <a:srgbClr val="6F6A61"/>
                </a:solidFill>
              </a:rPr>
              <a:t>PingFang SC · Body / UI / Metadata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BBBDD9-E80C-495E-A423-102F57DC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C602CC-6EF3-46CE-B626-52766B11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间距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0806EC-D190-4382-9058-88845912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3395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4A32"/>
          </a:solidFill>
          <a:ln xmlns:a="http://schemas.openxmlformats.org/drawingml/2006/main" w="9525">
            <a:solidFill>
              <a:srgbClr val="C34A3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5CD713-0755-469C-9C0E-9C5EE5FA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387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</a:defRPr>
            </a:pPr>
            <a:r>
              <a:rPr sz="900" b="0">
                <a:solidFill>
                  <a:srgbClr val="6F6A61"/>
                </a:solidFill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61AC86-0AEB-44D2-B6F6-E2485ACC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3395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4A32"/>
          </a:solidFill>
          <a:ln xmlns:a="http://schemas.openxmlformats.org/drawingml/2006/main" w="9525">
            <a:solidFill>
              <a:srgbClr val="C34A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CA380E-4386-420E-AE01-2EAFDCE0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387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</a:defRPr>
            </a:pPr>
            <a:r>
              <a:rPr sz="900" b="0">
                <a:solidFill>
                  <a:srgbClr val="6F6A61"/>
                </a:solidFill>
              </a:rPr>
              <a:t>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121941-6285-4F7E-8E1F-3CBB53A1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33950"/>
            <a:ext cx="114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4A32"/>
          </a:solidFill>
          <a:ln xmlns:a="http://schemas.openxmlformats.org/drawingml/2006/main" w="9525">
            <a:solidFill>
              <a:srgbClr val="C34A3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A14D13-AD24-4887-8041-1CB82F41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387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</a:defRPr>
            </a:pPr>
            <a:r>
              <a:rPr sz="900" b="0">
                <a:solidFill>
                  <a:srgbClr val="6F6A61"/>
                </a:solidFill>
              </a:rPr>
              <a:t>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C37C33-B43B-4236-80A0-F5035471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339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4A32"/>
          </a:solidFill>
          <a:ln xmlns:a="http://schemas.openxmlformats.org/drawingml/2006/main" w="9525">
            <a:solidFill>
              <a:srgbClr val="C34A3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65D791-3B45-4AF7-9AAA-E45AC068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387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</a:defRPr>
            </a:pPr>
            <a:r>
              <a:rPr sz="900" b="0">
                <a:solidFill>
                  <a:srgbClr val="6F6A61"/>
                </a:solidFill>
              </a:rPr>
              <a:t>16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063279-34FA-4730-8CD7-963D9DCD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33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4A32"/>
          </a:solidFill>
          <a:ln xmlns:a="http://schemas.openxmlformats.org/drawingml/2006/main" w="9525">
            <a:solidFill>
              <a:srgbClr val="C34A3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2D06AA-A4EE-47A4-9697-21F1FA22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2387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</a:defRPr>
            </a:pPr>
            <a:r>
              <a:rPr sz="900" b="0">
                <a:solidFill>
                  <a:srgbClr val="6F6A61"/>
                </a:solidFill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4CA757-F68B-4C7C-B8F9-09660195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33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4A32"/>
          </a:solidFill>
          <a:ln xmlns:a="http://schemas.openxmlformats.org/drawingml/2006/main" w="9525">
            <a:solidFill>
              <a:srgbClr val="C34A3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4439B5-FD2E-4E75-BB5B-A422E067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387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</a:defRPr>
            </a:pPr>
            <a:r>
              <a:rPr sz="900" b="0">
                <a:solidFill>
                  <a:srgbClr val="6F6A61"/>
                </a:solidFill>
              </a:rPr>
              <a:t>32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1F0191-AC97-4E59-B2B2-E905FDA7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339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4A32"/>
          </a:solidFill>
          <a:ln xmlns:a="http://schemas.openxmlformats.org/drawingml/2006/main" w="9525">
            <a:solidFill>
              <a:srgbClr val="C34A3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0E613E-7535-428D-B28D-4FE8E911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387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</a:defRPr>
            </a:pPr>
            <a:r>
              <a:rPr sz="900" b="0">
                <a:solidFill>
                  <a:srgbClr val="6F6A61"/>
                </a:solidFill>
              </a:rPr>
              <a:t>48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0EADE3-247A-4D4A-A6FD-EDA9FCED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339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4A32"/>
          </a:solidFill>
          <a:ln xmlns:a="http://schemas.openxmlformats.org/drawingml/2006/main" w="9525">
            <a:solidFill>
              <a:srgbClr val="C34A3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CEDEF3-9E70-498F-9016-E9E67F12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</a:defRPr>
            </a:pPr>
            <a:r>
              <a:rPr sz="900" b="0">
                <a:solidFill>
                  <a:srgbClr val="6F6A61"/>
                </a:solidFill>
              </a:rPr>
              <a:t>64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7E181D-923F-4EC1-933F-A004A246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339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4A32"/>
          </a:solidFill>
          <a:ln xmlns:a="http://schemas.openxmlformats.org/drawingml/2006/main" w="9525">
            <a:solidFill>
              <a:srgbClr val="C34A3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FC4CA2-9914-45DB-9B92-EB3544BD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387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</a:defRPr>
            </a:pPr>
            <a:r>
              <a:rPr sz="900" b="0">
                <a:solidFill>
                  <a:srgbClr val="6F6A61"/>
                </a:solidFill>
              </a:rPr>
              <a:t>80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63CBA0-C192-4E3C-B9CD-8352431B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9339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4A32"/>
          </a:solidFill>
          <a:ln xmlns:a="http://schemas.openxmlformats.org/drawingml/2006/main" w="9525">
            <a:solidFill>
              <a:srgbClr val="C34A3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253117-2202-4049-AFE9-73EF3996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2387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</a:defRPr>
            </a:pPr>
            <a:r>
              <a:rPr sz="900" b="0">
                <a:solidFill>
                  <a:srgbClr val="6F6A61"/>
                </a:solidFill>
              </a:rPr>
              <a:t>96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FB3859-EC61-46B8-A51D-F17C3003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正文宽度 680–720 px  ·  桌面页边距 64–96 px  ·  移动端页边距 20–24 px  ·  P1 再补深色主题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0E26A0-2556-40CF-B2B5-6A61A3EE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A61"/>
                </a:solidFill>
              </a:defRPr>
            </a:pPr>
            <a:r>
              <a:rPr sz="825" b="0">
                <a:solidFill>
                  <a:srgbClr val="6F6A61"/>
                </a:solidFill>
              </a:rPr>
              <a:t>Leon Blog · UI Foundation · v0.1</a:t>
            </a:r>
          </a:p>
        </p:txBody>
      </p:sp>
    </p:spTree>
    <p:extLst>
      <p:ext uri="{BB962C8B-B14F-4D97-AF65-F5344CB8AC3E}">
        <p14:creationId xmlns:p14="http://schemas.microsoft.com/office/powerpoint/2010/main" val="15591337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0664D0-75B4-428E-8C9E-8FFD98CC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34A32"/>
                </a:solidFill>
              </a:defRPr>
            </a:pPr>
            <a:r>
              <a:rPr sz="975" b="1">
                <a:solidFill>
                  <a:srgbClr val="C34A32"/>
                </a:solidFill>
              </a:rPr>
              <a:t>06 · COMPONENT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8AC56-0DD7-4D6E-B89E-75FF8206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</a:rPr>
              <a:t>少量稳定组件覆盖阅读与单管理员内容维护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CC88E-35EA-4B07-889C-5A30B738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1"/>
                </a:solidFill>
              </a:defRPr>
            </a:pPr>
            <a:r>
              <a:rPr sz="900" b="0">
                <a:solidFill>
                  <a:srgbClr val="6F6A61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91A3F-8686-43B0-8FD1-B98F5257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377A3-A9DD-45AD-B08E-DFD4E430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访客端组件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B2E37-F7B5-4B8F-AE40-4662249E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4290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SiteHeader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SearchField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ArticleRow / ArticleCard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ArticleMeta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CategoryLink / Tag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Pagination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MarkdownContent / CodeBlock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Empty / Error / Loading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F85DA-03D4-4C6B-9178-E1E5A334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管理端组件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C700C-7C2D-4258-938E-4BC73331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71700"/>
            <a:ext cx="30480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AdminHeader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PostStatus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PostTable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MarkdownEditor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FormField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TaxonomyPicker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ConfirmDialog</a:t>
            </a:r>
          </a:p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SaveBar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ED37F-E008-4EAB-B25C-F26B22E2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95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状态原则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86E69-3AF5-4EE6-BA36-96EC07AB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52675"/>
            <a:ext cx="266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0C482-66DF-4A32-A277-F71BC4AF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717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Default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1A6CF-341A-407C-9821-3F7CACF7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28925"/>
            <a:ext cx="266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0F40F-9552-4646-8CD3-22DF8574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Hover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119BC-9E66-4A7F-8E59-7FAC9C6D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051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4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A85C2-C38E-476E-BAE2-64AAB377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242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34A32"/>
                </a:solidFill>
              </a:defRPr>
            </a:pPr>
            <a:r>
              <a:rPr sz="1125" b="1">
                <a:solidFill>
                  <a:srgbClr val="C34A32"/>
                </a:solidFill>
              </a:rPr>
              <a:t>Focus Visible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F710C-9702-40DB-8683-5575F2CD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81425"/>
            <a:ext cx="266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0421F-FAFE-4B7A-9F23-EFBC34C9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004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Disabled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D0667-306C-4DE2-A02D-8D3B7210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57675"/>
            <a:ext cx="266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2AFAC-8D8E-438E-B8EF-A0E2F147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767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Loading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760433-ED45-459E-BF36-F2340BD5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33925"/>
            <a:ext cx="266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12994-191C-439E-805D-22CAF49E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52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Error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E8A42-B227-433A-BDFF-728C54D7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FAC93F-156E-466F-B4B9-2D176905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34A32"/>
                </a:solidFill>
              </a:defRPr>
            </a:pPr>
            <a:r>
              <a:rPr sz="1350" b="1">
                <a:solidFill>
                  <a:srgbClr val="C34A32"/>
                </a:solidFill>
              </a:rPr>
              <a:t>组件只服务已确定页面；不为未来 CMS、多人权限或复杂工作流提前建设抽象层。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B58CAA-ED3E-49EC-B5A6-CE672F8A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键盘可达 · 焦点清晰 · 状态不只依赖颜色 · 触控目标不小于 44 × 44 px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361782-E81C-4714-A7B0-3EF36142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A61"/>
                </a:solidFill>
              </a:defRPr>
            </a:pPr>
            <a:r>
              <a:rPr sz="825" b="0">
                <a:solidFill>
                  <a:srgbClr val="6F6A61"/>
                </a:solidFill>
              </a:rPr>
              <a:t>Leon Blog · UI Foundation · v0.1</a:t>
            </a:r>
          </a:p>
        </p:txBody>
      </p:sp>
    </p:spTree>
    <p:extLst>
      <p:ext uri="{BB962C8B-B14F-4D97-AF65-F5344CB8AC3E}">
        <p14:creationId xmlns:p14="http://schemas.microsoft.com/office/powerpoint/2010/main" val="7142039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8EBEA-DB15-4D64-8D54-15F89DD3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34A32"/>
                </a:solidFill>
              </a:defRPr>
            </a:pPr>
            <a:r>
              <a:rPr sz="975" b="1">
                <a:solidFill>
                  <a:srgbClr val="C34A32"/>
                </a:solidFill>
              </a:rPr>
              <a:t>07 · HOMEPAGE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0A600-4CEC-4E24-8834-A1F63A22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</a:rPr>
              <a:t>首页先证明作者关注什么，再邀请访客开始阅读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15E12-3C5E-4CE4-A5CC-11EB5D69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1"/>
                </a:solidFill>
              </a:defRPr>
            </a:pPr>
            <a:r>
              <a:rPr sz="900" b="0">
                <a:solidFill>
                  <a:srgbClr val="6F6A61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272B4-9A0D-44FA-942B-9B10DC11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322a6fec44687"/>
          <a:stretch xmlns:a="http://schemas.openxmlformats.org/drawingml/2006/main"/>
        </p:blipFill>
        <p:spPr>
          <a:xfrm xmlns:a="http://schemas.openxmlformats.org/drawingml/2006/main">
            <a:off x="1534380" y="1676400"/>
            <a:ext cx="6399089" cy="455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EC840-74BA-4349-91C0-F40D05D5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首屏顺序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615E4-82C1-432D-8BA1-A07875B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52650"/>
            <a:ext cx="2190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1  作者定位</a:t>
            </a:r>
          </a:p>
          <a:p xmlns:a="http://schemas.openxmlformats.org/drawingml/2006/main">
            <a:pPr algn="l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2  最新文章入口</a:t>
            </a:r>
          </a:p>
          <a:p xmlns:a="http://schemas.openxmlformats.org/drawingml/2006/main">
            <a:pPr algn="l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3  技术主题</a:t>
            </a:r>
          </a:p>
          <a:p xmlns:a="http://schemas.openxmlformats.org/drawingml/2006/main">
            <a:pPr algn="l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4  文章列表</a:t>
            </a:r>
          </a:p>
          <a:p xmlns:a="http://schemas.openxmlformats.org/drawingml/2006/main">
            <a:pPr algn="l">
              <a:defRPr sz="1275" b="0">
                <a:solidFill>
                  <a:srgbClr val="171717"/>
                </a:solidFill>
              </a:defRPr>
            </a:pPr>
            <a:r>
              <a:rPr sz="1275" b="0">
                <a:solidFill>
                  <a:srgbClr val="171717"/>
                </a:solidFill>
              </a:rPr>
              <a:t>5  作品能力证据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4E2B4-E7CD-49E7-B83F-397F84FC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719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A3DB3-0BF8-4C26-AB42-74871042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196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4A32"/>
                </a:solidFill>
              </a:defRPr>
            </a:pPr>
            <a:r>
              <a:rPr sz="1200" b="1">
                <a:solidFill>
                  <a:srgbClr val="C34A32"/>
                </a:solidFill>
              </a:rPr>
              <a:t>不新增独立项目路由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974F7-E7DA-4A27-901A-47387562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19650"/>
            <a:ext cx="219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</a:defRPr>
            </a:pPr>
            <a:r>
              <a:rPr sz="1125" b="0">
                <a:solidFill>
                  <a:srgbClr val="6F6A61"/>
                </a:solidFill>
              </a:rPr>
              <a:t>作品区只是求职证据：说明问题、职责、技术范围与结果。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361AA-7941-4BE6-AC82-3C83DDF0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A61"/>
                </a:solidFill>
              </a:defRPr>
            </a:pPr>
            <a:r>
              <a:rPr sz="825" b="0">
                <a:solidFill>
                  <a:srgbClr val="6F6A61"/>
                </a:solidFill>
              </a:rPr>
              <a:t>下一步：文章列表、文章详情与轻量管理端</a:t>
            </a:r>
          </a:p>
        </p:txBody>
      </p:sp>
    </p:spTree>
    <p:extLst>
      <p:ext uri="{BB962C8B-B14F-4D97-AF65-F5344CB8AC3E}">
        <p14:creationId xmlns:p14="http://schemas.microsoft.com/office/powerpoint/2010/main" val="272012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2026-07-28T06:39:05.7950000Z</dcterms:created>
  <dcterms:modified xsi:type="dcterms:W3CDTF">2026-07-28T06:39:05.7950000Z</dcterms:modified>
</coreProperties>
</file>